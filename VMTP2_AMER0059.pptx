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16C"/>
    <a:srgbClr val="000002"/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44643-8A70-4BB1-ADEC-682B505CB922}" v="7" dt="2026-02-25T12:24:07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Hindley" userId="b9301d21-3067-471e-9fce-56047473b511" providerId="ADAL" clId="{17A7FC5C-0BA4-43D9-B151-E545F079EE84}"/>
    <pc:docChg chg="modSld">
      <pc:chgData name="Tom Hindley" userId="b9301d21-3067-471e-9fce-56047473b511" providerId="ADAL" clId="{17A7FC5C-0BA4-43D9-B151-E545F079EE84}" dt="2026-02-25T12:24:07.603" v="5"/>
      <pc:docMkLst>
        <pc:docMk/>
      </pc:docMkLst>
      <pc:sldChg chg="modSp">
        <pc:chgData name="Tom Hindley" userId="b9301d21-3067-471e-9fce-56047473b511" providerId="ADAL" clId="{17A7FC5C-0BA4-43D9-B151-E545F079EE84}" dt="2026-02-25T12:23:44.469" v="1"/>
        <pc:sldMkLst>
          <pc:docMk/>
          <pc:sldMk cId="434689967" sldId="256"/>
        </pc:sldMkLst>
        <pc:picChg chg="mod">
          <ac:chgData name="Tom Hindley" userId="b9301d21-3067-471e-9fce-56047473b511" providerId="ADAL" clId="{17A7FC5C-0BA4-43D9-B151-E545F079EE84}" dt="2026-02-25T12:23:44.469" v="1"/>
          <ac:picMkLst>
            <pc:docMk/>
            <pc:sldMk cId="434689967" sldId="256"/>
            <ac:picMk id="4" creationId="{5A034C5F-6942-5A66-6BA5-87DACBE47E2B}"/>
          </ac:picMkLst>
        </pc:picChg>
      </pc:sldChg>
      <pc:sldChg chg="modSp">
        <pc:chgData name="Tom Hindley" userId="b9301d21-3067-471e-9fce-56047473b511" providerId="ADAL" clId="{17A7FC5C-0BA4-43D9-B151-E545F079EE84}" dt="2026-02-25T12:23:22.746" v="0"/>
        <pc:sldMkLst>
          <pc:docMk/>
          <pc:sldMk cId="3574220013" sldId="257"/>
        </pc:sldMkLst>
        <pc:spChg chg="mod">
          <ac:chgData name="Tom Hindley" userId="b9301d21-3067-471e-9fce-56047473b511" providerId="ADAL" clId="{17A7FC5C-0BA4-43D9-B151-E545F079EE84}" dt="2026-02-25T12:23:22.746" v="0"/>
          <ac:spMkLst>
            <pc:docMk/>
            <pc:sldMk cId="3574220013" sldId="257"/>
            <ac:spMk id="3" creationId="{815C6E23-4CAE-B7FA-210C-D7E19CE614E7}"/>
          </ac:spMkLst>
        </pc:spChg>
      </pc:sldChg>
      <pc:sldChg chg="modSp">
        <pc:chgData name="Tom Hindley" userId="b9301d21-3067-471e-9fce-56047473b511" providerId="ADAL" clId="{17A7FC5C-0BA4-43D9-B151-E545F079EE84}" dt="2026-02-25T12:23:50.547" v="2"/>
        <pc:sldMkLst>
          <pc:docMk/>
          <pc:sldMk cId="1283714915" sldId="258"/>
        </pc:sldMkLst>
        <pc:picChg chg="mod">
          <ac:chgData name="Tom Hindley" userId="b9301d21-3067-471e-9fce-56047473b511" providerId="ADAL" clId="{17A7FC5C-0BA4-43D9-B151-E545F079EE84}" dt="2026-02-25T12:23:50.547" v="2"/>
          <ac:picMkLst>
            <pc:docMk/>
            <pc:sldMk cId="1283714915" sldId="258"/>
            <ac:picMk id="5" creationId="{3C268911-A9C2-2134-A986-23384411EF16}"/>
          </ac:picMkLst>
        </pc:picChg>
      </pc:sldChg>
      <pc:sldChg chg="modSp">
        <pc:chgData name="Tom Hindley" userId="b9301d21-3067-471e-9fce-56047473b511" providerId="ADAL" clId="{17A7FC5C-0BA4-43D9-B151-E545F079EE84}" dt="2026-02-25T12:24:01.734" v="4"/>
        <pc:sldMkLst>
          <pc:docMk/>
          <pc:sldMk cId="2611595839" sldId="259"/>
        </pc:sldMkLst>
        <pc:picChg chg="mod">
          <ac:chgData name="Tom Hindley" userId="b9301d21-3067-471e-9fce-56047473b511" providerId="ADAL" clId="{17A7FC5C-0BA4-43D9-B151-E545F079EE84}" dt="2026-02-25T12:24:01.734" v="4"/>
          <ac:picMkLst>
            <pc:docMk/>
            <pc:sldMk cId="2611595839" sldId="259"/>
            <ac:picMk id="7" creationId="{D70FB327-E97C-3807-4EBF-1D4432726B19}"/>
          </ac:picMkLst>
        </pc:picChg>
      </pc:sldChg>
      <pc:sldChg chg="modSp">
        <pc:chgData name="Tom Hindley" userId="b9301d21-3067-471e-9fce-56047473b511" providerId="ADAL" clId="{17A7FC5C-0BA4-43D9-B151-E545F079EE84}" dt="2026-02-25T12:24:07.603" v="5"/>
        <pc:sldMkLst>
          <pc:docMk/>
          <pc:sldMk cId="2256633349" sldId="260"/>
        </pc:sldMkLst>
        <pc:picChg chg="mod">
          <ac:chgData name="Tom Hindley" userId="b9301d21-3067-471e-9fce-56047473b511" providerId="ADAL" clId="{17A7FC5C-0BA4-43D9-B151-E545F079EE84}" dt="2026-02-25T12:24:07.603" v="5"/>
          <ac:picMkLst>
            <pc:docMk/>
            <pc:sldMk cId="2256633349" sldId="260"/>
            <ac:picMk id="5" creationId="{1C8A2D20-AF6E-9F63-2D52-A15526412E16}"/>
          </ac:picMkLst>
        </pc:picChg>
      </pc:sldChg>
      <pc:sldChg chg="modSp">
        <pc:chgData name="Tom Hindley" userId="b9301d21-3067-471e-9fce-56047473b511" providerId="ADAL" clId="{17A7FC5C-0BA4-43D9-B151-E545F079EE84}" dt="2026-02-25T12:23:55.798" v="3"/>
        <pc:sldMkLst>
          <pc:docMk/>
          <pc:sldMk cId="3849881061" sldId="261"/>
        </pc:sldMkLst>
        <pc:picChg chg="mod">
          <ac:chgData name="Tom Hindley" userId="b9301d21-3067-471e-9fce-56047473b511" providerId="ADAL" clId="{17A7FC5C-0BA4-43D9-B151-E545F079EE84}" dt="2026-02-25T12:23:55.798" v="3"/>
          <ac:picMkLst>
            <pc:docMk/>
            <pc:sldMk cId="3849881061" sldId="261"/>
            <ac:picMk id="4" creationId="{7287B890-1152-8E0F-BFF4-2F213DE0BB7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8456-324A-3B3A-B1C1-B66B600EE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AFFBF-96E8-53B1-E5B7-CFFC586E0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C61C5-2D80-2B83-94C9-3DEC5497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5304D-65D7-A2A5-49A1-65655CC3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EAFA2-B132-273D-F623-C8ED1892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38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D4A1-D7D3-27EF-D59D-27F83D40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1FF03-3874-EC88-4E2E-9A2645A5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93B20-784C-0526-ACBA-CB395D6B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5E24B-73EE-AE3A-6DF1-01520E3A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54955-2654-36E3-8315-02D044A2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9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C9F4-8169-14AF-D0DB-F0082207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333EF-176D-CEB8-58DE-9C3CAB305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D7FBB-3C83-AAC6-02AE-B9B2997C6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EDBF6-E1EC-2531-21E5-A1302F2F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DD061-7F6B-69E9-C142-B24EA1A92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23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B6C5-D0EA-D2C1-07C6-8B544D4E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54E9E-6D3B-BA32-D58E-AD7BB583E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78276-FE06-FA8B-1C3E-B7F91F545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D45A-6674-C8CF-65C9-8D90DE28C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4555ED-94A3-E42A-EB3F-D70273F5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83D8D-12FA-4D92-429E-1E8697C64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14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8774C-EBAC-E8BC-5A42-7C1DD70F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FD11B-C96E-78C7-795E-C895D5C45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0BDBF-B3D3-ED3E-8E8F-B9BD37930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841BC-AD2B-F3F3-F0E6-111C37DB6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713FA-73B5-0775-9709-B662944D5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CF3EF-771C-9B8E-7EEF-6AC27B77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A58FC-CD6C-B4BD-675B-CF5D6372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65C10-DFD2-DAEE-F130-37EF4813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34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3224-B257-E1C8-085C-3BC6DF88F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FE9CC9-5E24-61E3-2CD1-9BD5742F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5316B-69B9-46D5-330E-E4A56BAD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BEE54-4D35-0F04-56DA-EE979A25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61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34B66C-1C5C-FE95-7AA2-18B0B42B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24D93F-6E81-D54E-8EA2-093F7122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04F33-0169-0D6D-D219-CEA41558E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04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0C65-65DF-A42B-5763-03043B280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59CF2-4A2D-1543-90A4-BAB10DC08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305B5-B295-A447-40C4-B831F071D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CC1BC-31AF-11C9-5D2A-463FBE175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4D91D-1DFC-64B1-0530-D7573B52A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BAA05-971C-45E0-02A1-4BE84AAC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59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1950-4BF8-B9FA-B3E9-78B540F00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881946-FE64-74C7-3637-5C5B127EA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E5544-6623-36BF-A929-7B6CD8D92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B888E-7F81-C93D-46F7-899AE41E1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999A2-E533-B4A5-966B-59DB2575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FF5BE-D870-DDB4-C338-F6FC2051C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63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223B-D9A9-25CA-C4F5-F1514960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617B5-84FA-967B-66DA-F510A3124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2E5CB-EC00-B573-76F8-89E801E3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42930-9EF2-1F43-09D0-83B3ECF0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B4BA-BA54-DBE9-4FC1-CB7C4FCA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91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CB64A-486F-EC4E-5FBE-895182C28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AF1E7-D5C9-594A-C964-393545418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B4733-DB25-1C9A-2BBD-42ACE055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00F69-34B0-168F-856A-ECE728A0B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22815-5238-C9B3-1EC6-A588DE58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53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54000">
              <a:srgbClr val="002147"/>
            </a:gs>
            <a:gs pos="0">
              <a:schemeClr val="accent1">
                <a:lumMod val="45000"/>
                <a:lumOff val="55000"/>
              </a:schemeClr>
            </a:gs>
            <a:gs pos="83000">
              <a:srgbClr val="000002"/>
            </a:gs>
            <a:gs pos="35044">
              <a:srgbClr val="546D87"/>
            </a:gs>
            <a:gs pos="16686">
              <a:srgbClr val="A6B6C5"/>
            </a:gs>
            <a:gs pos="100000">
              <a:srgbClr val="00316C"/>
            </a:gs>
          </a:gsLst>
          <a:path path="rect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75290-5911-7868-4D8C-59ED606C8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841D-CDFA-FC5F-8171-E835B1B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A19EE-B935-8CF5-774B-99184D1B7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C8C5F6-1FF1-4E53-928E-76639220C88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AEBEA-31E1-908A-8E5B-EAC1C78DA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B7026-4675-C1D9-7FEC-D21D9F115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1A4AF-0E46-4E35-8A9F-83F5733E87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60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ndorinteractive.netlify.app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ndorinteractive.netlify.app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ondorinteractive.netlify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ondorinteractive.netlify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condorinteractive.netlify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ondorinteractive.netlify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B9452-D977-D872-5EA0-6D117B118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829" y="1317145"/>
            <a:ext cx="9895114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GB" b="1" i="1" dirty="0">
                <a:solidFill>
                  <a:schemeClr val="bg2"/>
                </a:solidFill>
              </a:rPr>
              <a:t>Deconstructing Operation Condor Through Interactive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5ED20-D9D8-E7CA-D42C-175C5E4933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372" y="5735637"/>
            <a:ext cx="9144000" cy="1655762"/>
          </a:xfrm>
        </p:spPr>
        <p:txBody>
          <a:bodyPr/>
          <a:lstStyle/>
          <a:p>
            <a:pPr algn="l"/>
            <a:r>
              <a:rPr lang="en-GB" i="1" dirty="0"/>
              <a:t>Contemporary issues in the Americas: </a:t>
            </a:r>
          </a:p>
          <a:p>
            <a:pPr algn="l"/>
            <a:r>
              <a:rPr lang="en-GB" i="1" dirty="0"/>
              <a:t>Human Rights Data Visualisations </a:t>
            </a:r>
          </a:p>
        </p:txBody>
      </p:sp>
      <p:pic>
        <p:nvPicPr>
          <p:cNvPr id="4" name="Picture 3" descr="Home">
            <a:hlinkClick r:id="rId2"/>
            <a:extLst>
              <a:ext uri="{FF2B5EF4-FFF2-40B4-BE49-F238E27FC236}">
                <a16:creationId xmlns:a16="http://schemas.microsoft.com/office/drawing/2014/main" id="{5A034C5F-6942-5A66-6BA5-87DACBE47E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6738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4689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54000">
              <a:srgbClr val="002147"/>
            </a:gs>
            <a:gs pos="0">
              <a:schemeClr val="accent1">
                <a:lumMod val="45000"/>
                <a:lumOff val="55000"/>
              </a:schemeClr>
            </a:gs>
            <a:gs pos="83000">
              <a:srgbClr val="000002"/>
            </a:gs>
            <a:gs pos="35044">
              <a:srgbClr val="546D87"/>
            </a:gs>
            <a:gs pos="16686">
              <a:srgbClr val="A6B6C5"/>
            </a:gs>
            <a:gs pos="100000">
              <a:srgbClr val="00316C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73D13-24E5-5C07-B093-5C2EBB1E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Preface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6E23-4CAE-B7FA-210C-D7E19CE61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2304596"/>
            <a:ext cx="10515600" cy="4351338"/>
          </a:xfrm>
        </p:spPr>
        <p:txBody>
          <a:bodyPr/>
          <a:lstStyle/>
          <a:p>
            <a:r>
              <a:rPr lang="en-GB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The following slides showcase three selected data visualisations from the “Operation Condor Interactive Dataverse”- a website I created to compliment and build upon the research of plancondor.org.</a:t>
            </a:r>
          </a:p>
          <a:p>
            <a:r>
              <a:rPr lang="en-GB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I have created the </a:t>
            </a:r>
            <a:r>
              <a:rPr lang="en-GB" i="1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dataverse</a:t>
            </a:r>
            <a:r>
              <a:rPr lang="en-GB" i="1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as an accessible webpage, which is available in-full by clicking the link below. (Please note that these visualisations are only interactive when accessed through the link. In these slides, the visualisations are website screenshots).</a:t>
            </a:r>
          </a:p>
          <a:p>
            <a:r>
              <a:rPr lang="en-GB" i="1" dirty="0">
                <a:solidFill>
                  <a:schemeClr val="tx2">
                    <a:lumMod val="10000"/>
                    <a:lumOff val="90000"/>
                  </a:schemeClr>
                </a:solidFill>
                <a:hlinkClick r:id="rId2"/>
              </a:rPr>
              <a:t>https://condorinteractive.netlify.app/</a:t>
            </a:r>
            <a:endParaRPr lang="en-GB" i="1" dirty="0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220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264A1-87FE-322E-00BA-68525E285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5" y="331440"/>
            <a:ext cx="10515600" cy="1325563"/>
          </a:xfrm>
        </p:spPr>
        <p:txBody>
          <a:bodyPr/>
          <a:lstStyle/>
          <a:p>
            <a:r>
              <a:rPr lang="en-GB" b="1" i="1" dirty="0">
                <a:solidFill>
                  <a:schemeClr val="bg1"/>
                </a:solidFill>
              </a:rPr>
              <a:t>Visualisation 1: Justice through Trials and Restitutions </a:t>
            </a:r>
          </a:p>
        </p:txBody>
      </p:sp>
      <p:pic>
        <p:nvPicPr>
          <p:cNvPr id="5" name="Content Placeholder 4" descr="A screen shot of a computer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3C268911-A9C2-2134-A986-23384411E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34744" y="970302"/>
            <a:ext cx="6271312" cy="273053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4D4394-5199-6EEF-DAAE-EEE5B3E72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4744" y="3775247"/>
            <a:ext cx="6271312" cy="30827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86BD26-626B-5B70-60CB-8A8F19D5FCE5}"/>
              </a:ext>
            </a:extLst>
          </p:cNvPr>
          <p:cNvSpPr txBox="1"/>
          <p:nvPr/>
        </p:nvSpPr>
        <p:spPr>
          <a:xfrm>
            <a:off x="326571" y="1872343"/>
            <a:ext cx="4953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chemeClr val="bg1"/>
                </a:solidFill>
              </a:rPr>
              <a:t>This visualisation compiles two leading Operation Condor databases- the plancondor.org trials information database and the </a:t>
            </a:r>
            <a:r>
              <a:rPr lang="en-GB" i="1" dirty="0" err="1">
                <a:solidFill>
                  <a:schemeClr val="bg1"/>
                </a:solidFill>
              </a:rPr>
              <a:t>Abuelas</a:t>
            </a:r>
            <a:r>
              <a:rPr lang="en-GB" i="1" dirty="0">
                <a:solidFill>
                  <a:schemeClr val="bg1"/>
                </a:solidFill>
              </a:rPr>
              <a:t> de Plaza de Mayo restitutions list to show the groupings or waves of justice that have occurred through the years since the end of dictatorship.</a:t>
            </a:r>
          </a:p>
          <a:p>
            <a:endParaRPr lang="en-GB" i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chemeClr val="bg1"/>
                </a:solidFill>
              </a:rPr>
              <a:t>Links to both websites, as well as individual information, can be found by clicking the individual plot points.</a:t>
            </a:r>
          </a:p>
          <a:p>
            <a:endParaRPr lang="en-GB" i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chemeClr val="bg1"/>
                </a:solidFill>
              </a:rPr>
              <a:t>As the visualisation is somewhat crowded, the filter menu and the clickable key aid in providing clarity to the many points on the timeline.</a:t>
            </a:r>
          </a:p>
        </p:txBody>
      </p:sp>
    </p:spTree>
    <p:extLst>
      <p:ext uri="{BB962C8B-B14F-4D97-AF65-F5344CB8AC3E}">
        <p14:creationId xmlns:p14="http://schemas.microsoft.com/office/powerpoint/2010/main" val="128371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410A-46AE-E8E6-220A-9291FEFF9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3143" cy="2541361"/>
          </a:xfrm>
        </p:spPr>
        <p:txBody>
          <a:bodyPr/>
          <a:lstStyle/>
          <a:p>
            <a:r>
              <a:rPr lang="en-GB" b="1" i="1" dirty="0">
                <a:solidFill>
                  <a:schemeClr val="bg1"/>
                </a:solidFill>
              </a:rPr>
              <a:t>Filtering of visualisation 1 </a:t>
            </a:r>
          </a:p>
        </p:txBody>
      </p:sp>
      <p:pic>
        <p:nvPicPr>
          <p:cNvPr id="4" name="Content Placeholder 3" descr="A screenshot of a computer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7287B890-1152-8E0F-BFF4-2F213DE0B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39160" y="318659"/>
            <a:ext cx="6371841" cy="294010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2C6F78-2713-6D89-7A3B-4CC0DD8EA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473" y="3599240"/>
            <a:ext cx="6371842" cy="289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8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6367-9F31-51D9-ABA9-CAAEB614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bg1"/>
                </a:solidFill>
              </a:rPr>
              <a:t>Visualisation 2: Prosecuting Condor in different states</a:t>
            </a:r>
          </a:p>
        </p:txBody>
      </p:sp>
      <p:pic>
        <p:nvPicPr>
          <p:cNvPr id="7" name="Picture 6" descr="A screenshot of a computer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D70FB327-E97C-3807-4EBF-1D4432726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704" y="1124042"/>
            <a:ext cx="5894911" cy="252507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A31C075-40FF-5106-0198-D01462611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1114" cy="4351338"/>
          </a:xfrm>
        </p:spPr>
        <p:txBody>
          <a:bodyPr>
            <a:normAutofit fontScale="92500" lnSpcReduction="20000"/>
          </a:bodyPr>
          <a:lstStyle/>
          <a:p>
            <a:r>
              <a:rPr lang="en-GB" i="1" dirty="0">
                <a:solidFill>
                  <a:schemeClr val="bg1"/>
                </a:solidFill>
              </a:rPr>
              <a:t>This visualisation illustrates the varying degrees and extents to which different countries have prosecuted Condor-era human rights abuses </a:t>
            </a:r>
          </a:p>
          <a:p>
            <a:r>
              <a:rPr lang="en-GB" i="1" dirty="0">
                <a:solidFill>
                  <a:schemeClr val="bg1"/>
                </a:solidFill>
              </a:rPr>
              <a:t>The charts are fully interactive through different filters and through finding details of cases by clicking the segments (the link takes the user to the plancondor.org section of case files)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32F418-102B-AB38-E447-0C1E80672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7704" y="3649117"/>
            <a:ext cx="5894911" cy="264024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7A9D22C5-2534-9DC5-42D1-847E3FD04626}"/>
              </a:ext>
            </a:extLst>
          </p:cNvPr>
          <p:cNvSpPr/>
          <p:nvPr/>
        </p:nvSpPr>
        <p:spPr>
          <a:xfrm>
            <a:off x="5787704" y="4001294"/>
            <a:ext cx="1463687" cy="7402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9E19582-629A-C7C2-1D38-8729FD249C27}"/>
              </a:ext>
            </a:extLst>
          </p:cNvPr>
          <p:cNvSpPr/>
          <p:nvPr/>
        </p:nvSpPr>
        <p:spPr>
          <a:xfrm>
            <a:off x="8238111" y="5453742"/>
            <a:ext cx="666404" cy="4477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A8B18-F077-7516-0074-459C78F970C8}"/>
              </a:ext>
            </a:extLst>
          </p:cNvPr>
          <p:cNvSpPr/>
          <p:nvPr/>
        </p:nvSpPr>
        <p:spPr>
          <a:xfrm>
            <a:off x="8003315" y="4153694"/>
            <a:ext cx="1463687" cy="5878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595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1406A-A8AA-68F1-57D7-AAAAB36F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solidFill>
                  <a:schemeClr val="bg1"/>
                </a:solidFill>
              </a:rPr>
              <a:t>Visualisation 3: Sites of retaliation, resistance and memory</a:t>
            </a:r>
          </a:p>
        </p:txBody>
      </p:sp>
      <p:pic>
        <p:nvPicPr>
          <p:cNvPr id="5" name="Content Placeholder 4" descr="A screenshot of a computer&#10;&#10;AI-generated content may be incorrect.">
            <a:hlinkClick r:id="rId2"/>
            <a:extLst>
              <a:ext uri="{FF2B5EF4-FFF2-40B4-BE49-F238E27FC236}">
                <a16:creationId xmlns:a16="http://schemas.microsoft.com/office/drawing/2014/main" id="{1C8A2D20-AF6E-9F63-2D52-A15526412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43866" y="1531711"/>
            <a:ext cx="5956026" cy="2572204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C11B67-59C8-46D0-D2E4-4A40C2779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867" y="4268559"/>
            <a:ext cx="5956026" cy="25894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04F05B-6AAE-1DCD-224E-4B23F2C791C7}"/>
              </a:ext>
            </a:extLst>
          </p:cNvPr>
          <p:cNvSpPr txBox="1"/>
          <p:nvPr/>
        </p:nvSpPr>
        <p:spPr>
          <a:xfrm>
            <a:off x="631371" y="2090057"/>
            <a:ext cx="44631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This visualisation illustrates the resistance to human rights abuses through the creation of social organisations, NGOs, governmental memory efforts and archive construction.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Scroll the globe and use the filter tab to explore the organisations, click individual points to find out more information. </a:t>
            </a:r>
          </a:p>
        </p:txBody>
      </p:sp>
    </p:spTree>
    <p:extLst>
      <p:ext uri="{BB962C8B-B14F-4D97-AF65-F5344CB8AC3E}">
        <p14:creationId xmlns:p14="http://schemas.microsoft.com/office/powerpoint/2010/main" val="2256633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E6AC4-503D-9A9D-D079-CE136443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83882-02A1-184F-9A26-5C07736A4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30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3891</TotalTime>
  <Words>322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Deconstructing Operation Condor Through Interactive Data</vt:lpstr>
      <vt:lpstr>Preface </vt:lpstr>
      <vt:lpstr>Visualisation 1: Justice through Trials and Restitutions </vt:lpstr>
      <vt:lpstr>Filtering of visualisation 1 </vt:lpstr>
      <vt:lpstr>Visualisation 2: Prosecuting Condor in different states</vt:lpstr>
      <vt:lpstr>Visualisation 3: Sites of retaliation, resistance and memory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Hindley</dc:creator>
  <cp:lastModifiedBy>Tom Hindley</cp:lastModifiedBy>
  <cp:revision>1</cp:revision>
  <dcterms:created xsi:type="dcterms:W3CDTF">2026-02-22T19:20:02Z</dcterms:created>
  <dcterms:modified xsi:type="dcterms:W3CDTF">2026-02-25T12:24:14Z</dcterms:modified>
</cp:coreProperties>
</file>